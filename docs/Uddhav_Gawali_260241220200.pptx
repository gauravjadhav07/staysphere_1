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17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828800"/>
            <a:ext cx="4754880" cy="4754880"/>
          </a:xfrm>
          <a:prstGeom prst="ellipse">
            <a:avLst/>
          </a:prstGeom>
          <a:solidFill>
            <a:srgbClr val="1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480560"/>
            <a:ext cx="4206240" cy="4206240"/>
          </a:xfrm>
          <a:prstGeom prst="ellipse">
            <a:avLst/>
          </a:prstGeom>
          <a:solidFill>
            <a:srgbClr val="1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502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E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FOR ADVANCED COMPUTING AND SOFTWARE DEVELOPMENT, AKURDI, PUNE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StaySphere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6928" y="3429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E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Rental, Booking &amp; Payment Management Platform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4069080"/>
            <a:ext cx="2926080" cy="0"/>
          </a:xfrm>
          <a:prstGeom prst="line">
            <a:avLst/>
          </a:prstGeom>
          <a:noFill/>
          <a:ln w="19050">
            <a:solidFill>
              <a:srgbClr val="B89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E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PGCP-AC Feb - 2026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30368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49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4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Jadhav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- 262033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77900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 smtClean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4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Uddhav</a:t>
            </a:r>
            <a:r>
              <a:rPr lang="en-US" sz="14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Gawali</a:t>
            </a:r>
            <a:r>
              <a:rPr lang="en-US" sz="14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- 262105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19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[_______________]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6419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Coordinator: [_______________]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2286000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59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907792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80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9809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3529584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02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6027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4151376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245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and Extensions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4773168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5394960"/>
            <a:ext cx="8686800" cy="0"/>
          </a:xfrm>
          <a:prstGeom prst="line">
            <a:avLst/>
          </a:prstGeom>
          <a:noFill/>
          <a:ln w="9525">
            <a:solidFill>
              <a:srgbClr val="D7DC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68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68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5468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PG-DAC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 is a role-based property rental and booking management platform that brings property owners and tenants onto a single, secure web application — covering rooms, PGs, flats and hostels.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9077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1868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owners and tenants one reliable platform to list, discover, book and pay for a stay — with a full auditable trail.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593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27024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management, tenant booking workflow, owner dashboard, admin moderation, and online/offline payments via Razorpay.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28016" cy="128016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10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2180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 end + Spring Boot backend, with a dedicated Payment Microservice isolating gateway credentials from core logic.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1554480"/>
            <a:ext cx="4572000" cy="4617720"/>
          </a:xfrm>
          <a:prstGeom prst="roundRect">
            <a:avLst>
              <a:gd name="adj" fmla="val 28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Platform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06640" y="23317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25328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761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 &amp; pay online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3502152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933F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6210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Owner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manage &amp; approve bookings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4672584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487375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892B0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7914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5102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users, properties &amp; audit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StaySphere's three cooperating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6479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(Core)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703320" y="1764792"/>
            <a:ext cx="78940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3.5 · Spring Web · Spring Data JPA · Spring Security · JJWT · springdoc-openapi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712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933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752344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Microservice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2752344"/>
            <a:ext cx="78940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3.3 · Spring Web · Spring Data JPA · Razorpay REST integration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58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E6EA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739896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3739896"/>
            <a:ext cx="78940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React Router · Axios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549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727448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03320" y="4727448"/>
            <a:ext cx="78940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staysphere_db &amp; payment_db (database-first schema)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41848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833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4566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571500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703320" y="5715000"/>
            <a:ext cx="78940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· Lombok · Spring Boot DevTools · Postman / Swagger (OpenAPI UI)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and Roles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enforced at the API layer via Spring Security method-level authorisation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  <a:effectLst>
            <a:outerShdw blurRad="101600" dist="381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F6E5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3502152"/>
            <a:ext cx="73152" cy="73152"/>
          </a:xfrm>
          <a:prstGeom prst="ellipse">
            <a:avLst/>
          </a:prstGeom>
          <a:solidFill>
            <a:srgbClr val="4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74136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properties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4160520"/>
            <a:ext cx="73152" cy="73152"/>
          </a:xfrm>
          <a:prstGeom prst="ellipse">
            <a:avLst/>
          </a:prstGeom>
          <a:solidFill>
            <a:srgbClr val="4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032504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booking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4818888"/>
            <a:ext cx="73152" cy="73152"/>
          </a:xfrm>
          <a:prstGeom prst="ellipse">
            <a:avLst/>
          </a:prstGeom>
          <a:solidFill>
            <a:srgbClr val="4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90872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(Razorpay) or track offline payment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5477256"/>
            <a:ext cx="73152" cy="73152"/>
          </a:xfrm>
          <a:prstGeom prst="ellipse">
            <a:avLst/>
          </a:prstGeom>
          <a:solidFill>
            <a:srgbClr val="4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349240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 history &amp; manage profile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8218" y="169164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  <a:effectLst>
            <a:outerShdw blurRad="101600" dist="381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8258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933F"/>
          </a:solidFill>
          <a:ln/>
        </p:spPr>
      </p:sp>
      <p:sp>
        <p:nvSpPr>
          <p:cNvPr id="17" name="Text 15"/>
          <p:cNvSpPr/>
          <p:nvPr/>
        </p:nvSpPr>
        <p:spPr>
          <a:xfrm>
            <a:off x="4658258" y="28346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Owner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85690" y="3502152"/>
            <a:ext cx="73152" cy="73152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9" name="Text 17"/>
          <p:cNvSpPr/>
          <p:nvPr/>
        </p:nvSpPr>
        <p:spPr>
          <a:xfrm>
            <a:off x="4886858" y="3374136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manage properties, images and facilities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85690" y="4160520"/>
            <a:ext cx="73152" cy="73152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1" name="Text 19"/>
          <p:cNvSpPr/>
          <p:nvPr/>
        </p:nvSpPr>
        <p:spPr>
          <a:xfrm>
            <a:off x="4886858" y="4032504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reject booking requests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5690" y="4818888"/>
            <a:ext cx="73152" cy="73152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3" name="Text 21"/>
          <p:cNvSpPr/>
          <p:nvPr/>
        </p:nvSpPr>
        <p:spPr>
          <a:xfrm>
            <a:off x="4886858" y="4690872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offline (cash/UPI) payments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85690" y="5477256"/>
            <a:ext cx="73152" cy="73152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5" name="Text 23"/>
          <p:cNvSpPr/>
          <p:nvPr/>
        </p:nvSpPr>
        <p:spPr>
          <a:xfrm>
            <a:off x="4886858" y="5349240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payout account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27797" y="169164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  <a:effectLst>
            <a:outerShdw blurRad="101600" dist="381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47837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8447837" y="283464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75269" y="3502152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8676437" y="3374136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 (suspend / reset password)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75269" y="4160520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8676437" y="4032504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&amp; approve properties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75269" y="4818888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8676437" y="4690872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bookings platform-wide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75269" y="5477256"/>
            <a:ext cx="73152" cy="731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6" name="Text 34"/>
          <p:cNvSpPr/>
          <p:nvPr/>
        </p:nvSpPr>
        <p:spPr>
          <a:xfrm>
            <a:off x="8676437" y="5349240"/>
            <a:ext cx="2646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append-only audit log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actors and their interactions with the StaySphere system</a:t>
            </a:r>
            <a:endParaRPr lang="en-US" sz="1400" dirty="0"/>
          </a:p>
        </p:txBody>
      </p:sp>
      <p:pic>
        <p:nvPicPr>
          <p:cNvPr id="4" name="Image 0" descr="/home/claude/report_check/unpacked/word/media/241e475502176bf04183e9d94c83f6b28dc05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789" y="1600200"/>
            <a:ext cx="1441941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by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5258" cy="4663440"/>
          </a:xfrm>
          <a:prstGeom prst="roundRect">
            <a:avLst>
              <a:gd name="adj" fmla="val 3121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828800"/>
            <a:ext cx="2930042" cy="502920"/>
          </a:xfrm>
          <a:prstGeom prst="roundRect">
            <a:avLst>
              <a:gd name="adj" fmla="val 14545"/>
            </a:avLst>
          </a:prstGeom>
          <a:solidFill>
            <a:srgbClr val="4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28800"/>
            <a:ext cx="2930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Register /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Browse &amp; search properties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Request a booking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Track booking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Pay online (Razorpay)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payment history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profile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8218" y="1554480"/>
            <a:ext cx="3515258" cy="4663440"/>
          </a:xfrm>
          <a:prstGeom prst="roundRect">
            <a:avLst>
              <a:gd name="adj" fmla="val 3121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0826" y="1828800"/>
            <a:ext cx="2930042" cy="502920"/>
          </a:xfrm>
          <a:prstGeom prst="roundRect">
            <a:avLst>
              <a:gd name="adj" fmla="val 14545"/>
            </a:avLst>
          </a:prstGeom>
          <a:solidFill>
            <a:srgbClr val="B8933F"/>
          </a:solidFill>
          <a:ln/>
        </p:spPr>
      </p:sp>
      <p:sp>
        <p:nvSpPr>
          <p:cNvPr id="15" name="Text 13"/>
          <p:cNvSpPr/>
          <p:nvPr/>
        </p:nvSpPr>
        <p:spPr>
          <a:xfrm>
            <a:off x="4630826" y="1828800"/>
            <a:ext cx="2930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Owner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58258" y="260604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58258" y="301752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List / edit property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58258" y="342900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images &amp; facilities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58258" y="38404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Confirm / reject booking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58258" y="425196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Record offline payment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58258" y="466344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owner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8258" y="507492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payout account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7797" y="1554480"/>
            <a:ext cx="3515258" cy="4663440"/>
          </a:xfrm>
          <a:prstGeom prst="roundRect">
            <a:avLst>
              <a:gd name="adj" fmla="val 3121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0405" y="1828800"/>
            <a:ext cx="2930042" cy="502920"/>
          </a:xfrm>
          <a:prstGeom prst="roundRect">
            <a:avLst>
              <a:gd name="adj" fmla="val 14545"/>
            </a:avLst>
          </a:prstGeom>
          <a:solidFill>
            <a:srgbClr val="8892B0"/>
          </a:solidFill>
          <a:ln/>
        </p:spPr>
      </p:sp>
      <p:sp>
        <p:nvSpPr>
          <p:cNvPr id="25" name="Text 23"/>
          <p:cNvSpPr/>
          <p:nvPr/>
        </p:nvSpPr>
        <p:spPr>
          <a:xfrm>
            <a:off x="8420405" y="1828800"/>
            <a:ext cx="2930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47837" y="260604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audit logs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47837" y="301752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Monitor all bookings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47837" y="342900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user accounts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47837" y="38404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Approve / manage all properties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by Role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and Extensions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837944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Instalment-based Rent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partial rent payments with automated reminders, instead of one-shot collection.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70168" y="1691640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8768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8848" y="1837944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Payouts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38848" y="2167128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settlement pipeline that pays owners directly instead of manual offline recording.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564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374136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&amp; Ratings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tenants rate properties and owners to build trust signals across the marketplace.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70168" y="3227832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98768" y="34564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20" name="Text 18"/>
          <p:cNvSpPr/>
          <p:nvPr/>
        </p:nvSpPr>
        <p:spPr>
          <a:xfrm>
            <a:off x="6598768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38848" y="3374136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38848" y="3703320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/ push alerts for booking status changes, payment confirmations and reminders.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926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910328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17320" y="5239512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Android/iOS app built on the existing REST API for on-the-go booking and management.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70168" y="4764024"/>
            <a:ext cx="52728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C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98768" y="49926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D6B0"/>
          </a:solidFill>
          <a:ln/>
        </p:spPr>
      </p:sp>
      <p:sp>
        <p:nvSpPr>
          <p:cNvPr id="30" name="Text 28"/>
          <p:cNvSpPr/>
          <p:nvPr/>
        </p:nvSpPr>
        <p:spPr>
          <a:xfrm>
            <a:off x="6598768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38848" y="4910328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Search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38848" y="5239512"/>
            <a:ext cx="417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discovery, saved searches, and recommendation-driven property ranking.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and Extensions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Homepage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landing page with search and available properties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08107" y="1271016"/>
            <a:ext cx="6345305" cy="5340096"/>
          </a:xfrm>
          <a:prstGeom prst="roundRect">
            <a:avLst>
              <a:gd name="adj" fmla="val 2055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2699" y="137160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3292155" y="137160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3511611" y="137160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1_home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699" y="1600200"/>
            <a:ext cx="6016121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Homepage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Sign 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tenants and owners register with role selection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86949" y="1271016"/>
            <a:ext cx="8987622" cy="5340096"/>
          </a:xfrm>
          <a:prstGeom prst="roundRect">
            <a:avLst>
              <a:gd name="adj" fmla="val 2055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1541" y="137160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970997" y="137160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2190453" y="137160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4_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541" y="1600200"/>
            <a:ext cx="8658438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Sign Up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Login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JWT-based authentication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1847088"/>
            <a:ext cx="9564624" cy="4187952"/>
          </a:xfrm>
          <a:prstGeom prst="roundRect">
            <a:avLst>
              <a:gd name="adj" fmla="val 2620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947672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1947672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901952" y="1947672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5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76272"/>
            <a:ext cx="9235440" cy="3694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Login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Change Password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securely update their password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1776540"/>
            <a:ext cx="9564624" cy="4329049"/>
          </a:xfrm>
          <a:prstGeom prst="roundRect">
            <a:avLst>
              <a:gd name="adj" fmla="val 2535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77124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1877124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901952" y="1877124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7_change_pass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05724"/>
            <a:ext cx="9235440" cy="3835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Change Password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Unsuccessful Login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credentials are rejected with a clear error message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1901603"/>
            <a:ext cx="9564624" cy="4078923"/>
          </a:xfrm>
          <a:prstGeom prst="roundRect">
            <a:avLst>
              <a:gd name="adj" fmla="val 2690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02187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2002187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901952" y="2002187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6_logi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230787"/>
            <a:ext cx="9235440" cy="35851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Unsuccessful Login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users, properties, bookings and the audit trail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2299240"/>
            <a:ext cx="9564624" cy="3283649"/>
          </a:xfrm>
          <a:prstGeom prst="roundRect">
            <a:avLst>
              <a:gd name="adj" fmla="val 334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399824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2399824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901952" y="2399824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17_admi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628424"/>
            <a:ext cx="9235440" cy="27898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Admin Dashboard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— Tenant Functionality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Browsing, booking and paying for a stay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00988" y="1362456"/>
            <a:ext cx="3290265" cy="2642616"/>
          </a:xfrm>
          <a:prstGeom prst="roundRect">
            <a:avLst>
              <a:gd name="adj" fmla="val 41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5580" y="146304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985036" y="146304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2204492" y="146304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02_search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80" y="1691640"/>
            <a:ext cx="2961081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11373" y="1362456"/>
            <a:ext cx="4116613" cy="2642616"/>
          </a:xfrm>
          <a:prstGeom prst="roundRect">
            <a:avLst>
              <a:gd name="adj" fmla="val 41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75965" y="146304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1" name="Shape 8"/>
          <p:cNvSpPr/>
          <p:nvPr/>
        </p:nvSpPr>
        <p:spPr>
          <a:xfrm>
            <a:off x="7195421" y="146304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2" name="Shape 9"/>
          <p:cNvSpPr/>
          <p:nvPr/>
        </p:nvSpPr>
        <p:spPr>
          <a:xfrm>
            <a:off x="7414877" y="146304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3" name="Image 1" descr="/home/claude/screens/03_property_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965" y="1691640"/>
            <a:ext cx="3787429" cy="2148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4421" y="3831336"/>
            <a:ext cx="5003398" cy="2642616"/>
          </a:xfrm>
          <a:prstGeom prst="roundRect">
            <a:avLst>
              <a:gd name="adj" fmla="val 41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9013" y="393192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6" name="Shape 12"/>
          <p:cNvSpPr/>
          <p:nvPr/>
        </p:nvSpPr>
        <p:spPr>
          <a:xfrm>
            <a:off x="1128469" y="393192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7" name="Shape 13"/>
          <p:cNvSpPr/>
          <p:nvPr/>
        </p:nvSpPr>
        <p:spPr>
          <a:xfrm>
            <a:off x="1347925" y="393192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8" name="Image 2" descr="/home/claude/screens/08_booking_confi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13" y="4160520"/>
            <a:ext cx="4674214" cy="21488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44768" y="3835400"/>
            <a:ext cx="5449824" cy="2634488"/>
          </a:xfrm>
          <a:prstGeom prst="roundRect">
            <a:avLst>
              <a:gd name="adj" fmla="val 4165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3935984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28816" y="3935984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2" name="Shape 17"/>
          <p:cNvSpPr/>
          <p:nvPr/>
        </p:nvSpPr>
        <p:spPr>
          <a:xfrm>
            <a:off x="6748272" y="3935984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23" name="Image 3" descr="/home/claude/screens/09_payment_check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164584"/>
            <a:ext cx="5120640" cy="21407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Tenant Functionality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— Owner Functionality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properties, bookings and payouts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1208" y="1435862"/>
            <a:ext cx="5449824" cy="2495804"/>
          </a:xfrm>
          <a:prstGeom prst="roundRect">
            <a:avLst>
              <a:gd name="adj" fmla="val 4396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446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536446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1536446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11_own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5046"/>
            <a:ext cx="5120640" cy="20020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87924" y="1362456"/>
            <a:ext cx="3763512" cy="2642616"/>
          </a:xfrm>
          <a:prstGeom prst="roundRect">
            <a:avLst>
              <a:gd name="adj" fmla="val 41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52516" y="146304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1" name="Shape 8"/>
          <p:cNvSpPr/>
          <p:nvPr/>
        </p:nvSpPr>
        <p:spPr>
          <a:xfrm>
            <a:off x="7371972" y="146304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2" name="Shape 9"/>
          <p:cNvSpPr/>
          <p:nvPr/>
        </p:nvSpPr>
        <p:spPr>
          <a:xfrm>
            <a:off x="7591428" y="146304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3" name="Image 1" descr="/home/claude/screens/12_owner_proper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516" y="1691640"/>
            <a:ext cx="3434328" cy="2148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208" y="4246118"/>
            <a:ext cx="5449824" cy="1813052"/>
          </a:xfrm>
          <a:prstGeom prst="roundRect">
            <a:avLst>
              <a:gd name="adj" fmla="val 60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4346702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6" name="Shape 12"/>
          <p:cNvSpPr/>
          <p:nvPr/>
        </p:nvSpPr>
        <p:spPr>
          <a:xfrm>
            <a:off x="905256" y="4346702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24712" y="4346702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8" name="Image 2" descr="/home/claude/screens/14_owner_book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75302"/>
            <a:ext cx="5120640" cy="131927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13679" y="3831336"/>
            <a:ext cx="5312001" cy="2642616"/>
          </a:xfrm>
          <a:prstGeom prst="roundRect">
            <a:avLst>
              <a:gd name="adj" fmla="val 415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78271" y="393192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97727" y="393192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7183" y="393192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23" name="Image 3" descr="/home/claude/screens/16_owner_p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271" y="4160520"/>
            <a:ext cx="4982817" cy="21488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Owner Functionality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— Admin Functionality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Moderation, oversight and the audit trail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1208" y="1768348"/>
            <a:ext cx="5449824" cy="1830832"/>
          </a:xfrm>
          <a:prstGeom prst="roundRect">
            <a:avLst>
              <a:gd name="adj" fmla="val 5993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68932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868932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1868932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18_admin_proper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7532"/>
            <a:ext cx="5120640" cy="13370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44768" y="1793240"/>
            <a:ext cx="5449824" cy="1781048"/>
          </a:xfrm>
          <a:prstGeom prst="roundRect">
            <a:avLst>
              <a:gd name="adj" fmla="val 6161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893824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1" name="Shape 8"/>
          <p:cNvSpPr/>
          <p:nvPr/>
        </p:nvSpPr>
        <p:spPr>
          <a:xfrm>
            <a:off x="6528816" y="1893824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2" name="Shape 9"/>
          <p:cNvSpPr/>
          <p:nvPr/>
        </p:nvSpPr>
        <p:spPr>
          <a:xfrm>
            <a:off x="6748272" y="1893824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3" name="Image 1" descr="/home/claude/screens/19_admin_book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22424"/>
            <a:ext cx="5120640" cy="12872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208" y="4207002"/>
            <a:ext cx="5449824" cy="1891284"/>
          </a:xfrm>
          <a:prstGeom prst="roundRect">
            <a:avLst>
              <a:gd name="adj" fmla="val 580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4307586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16" name="Shape 12"/>
          <p:cNvSpPr/>
          <p:nvPr/>
        </p:nvSpPr>
        <p:spPr>
          <a:xfrm>
            <a:off x="905256" y="4307586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24712" y="4307586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18" name="Image 2" descr="/home/claude/screens/20_admin_audit_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36186"/>
            <a:ext cx="5120640" cy="139750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44768" y="4132326"/>
            <a:ext cx="5449824" cy="2040636"/>
          </a:xfrm>
          <a:prstGeom prst="roundRect">
            <a:avLst>
              <a:gd name="adj" fmla="val 5377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232910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28816" y="4232910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22" name="Shape 17"/>
          <p:cNvSpPr/>
          <p:nvPr/>
        </p:nvSpPr>
        <p:spPr>
          <a:xfrm>
            <a:off x="6748272" y="4232910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23" name="Image 3" descr="/home/claude/screens/10_my_book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461510"/>
            <a:ext cx="5120640" cy="15468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Admin Functionality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— Logout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screen after a user signs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2299240"/>
            <a:ext cx="9564624" cy="3283649"/>
          </a:xfrm>
          <a:prstGeom prst="roundRect">
            <a:avLst>
              <a:gd name="adj" fmla="val 3342"/>
            </a:avLst>
          </a:prstGeom>
          <a:solidFill>
            <a:srgbClr val="FBFAF7"/>
          </a:solidFill>
          <a:ln w="12700">
            <a:solidFill>
              <a:srgbClr val="D7DCD8"/>
            </a:solidFill>
            <a:prstDash val="solid"/>
          </a:ln>
          <a:effectLst>
            <a:outerShdw blurRad="127000" dist="50800" dir="5400000" algn="bl" rotWithShape="0">
              <a:srgbClr val="1621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399824"/>
            <a:ext cx="100584" cy="100584"/>
          </a:xfrm>
          <a:prstGeom prst="ellipse">
            <a:avLst/>
          </a:prstGeom>
          <a:solidFill>
            <a:srgbClr val="A5493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2399824"/>
            <a:ext cx="100584" cy="100584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7" name="Shape 5"/>
          <p:cNvSpPr/>
          <p:nvPr/>
        </p:nvSpPr>
        <p:spPr>
          <a:xfrm>
            <a:off x="1901952" y="2399824"/>
            <a:ext cx="100584" cy="100584"/>
          </a:xfrm>
          <a:prstGeom prst="ellipse">
            <a:avLst/>
          </a:prstGeom>
          <a:solidFill>
            <a:srgbClr val="4F6E56"/>
          </a:solidFill>
          <a:ln/>
        </p:spPr>
      </p:sp>
      <p:pic>
        <p:nvPicPr>
          <p:cNvPr id="8" name="Image 0" descr="/home/claude/screens/21_log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628424"/>
            <a:ext cx="9235440" cy="27898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Logout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265615" y="-1828800"/>
            <a:ext cx="4754880" cy="4754880"/>
          </a:xfrm>
          <a:prstGeom prst="ellipse">
            <a:avLst/>
          </a:prstGeom>
          <a:solidFill>
            <a:srgbClr val="1B2A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E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 brings property owners and tenants onto a single, secure platform — covering the full rental journey from listing and discovery through booking, approval and payment.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55848"/>
            <a:ext cx="109728" cy="109728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186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via Spring Security &amp; stateless JWT 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22776"/>
            <a:ext cx="109728" cy="109728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8561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Payment Microservice isolates Razorpay credentials from core logic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gateway-verified online payments and owner-recorded offline payments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56632"/>
            <a:ext cx="109728" cy="109728"/>
          </a:xfrm>
          <a:prstGeom prst="ellipse">
            <a:avLst/>
          </a:prstGeom>
          <a:solidFill>
            <a:srgbClr val="B8933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9194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audit log gives admins full traceability over sensitive 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737360"/>
            <a:ext cx="3840480" cy="3840480"/>
          </a:xfrm>
          <a:prstGeom prst="roundRect">
            <a:avLst>
              <a:gd name="adj" fmla="val 3333"/>
            </a:avLst>
          </a:prstGeom>
          <a:solidFill>
            <a:srgbClr val="1B2A4C"/>
          </a:solidFill>
          <a:ln w="12700">
            <a:solidFill>
              <a:srgbClr val="3240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 + Vite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924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Spring Boot 3.5 (Java 21)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Spring Security + JWT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 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9244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Razorpay Payment Gateway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StaySphere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874</Words>
  <Application>Microsoft Office PowerPoint</Application>
  <PresentationFormat>Widescreen</PresentationFormat>
  <Paragraphs>198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2026-08-09T15:00:05Z</dcterms:created>
  <dcterms:modified xsi:type="dcterms:W3CDTF">2026-08-10T06:44:31Z</dcterms:modified>
</cp:coreProperties>
</file>